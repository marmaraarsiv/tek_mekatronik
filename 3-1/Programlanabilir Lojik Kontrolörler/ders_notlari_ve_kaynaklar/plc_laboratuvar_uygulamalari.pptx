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4" r:id="rId3"/>
    <p:sldId id="262" r:id="rId4"/>
    <p:sldId id="258" r:id="rId5"/>
    <p:sldId id="259" r:id="rId6"/>
    <p:sldId id="265" r:id="rId7"/>
    <p:sldId id="260" r:id="rId8"/>
    <p:sldId id="261" r:id="rId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20" autoAdjust="0"/>
    <p:restoredTop sz="94660"/>
  </p:normalViewPr>
  <p:slideViewPr>
    <p:cSldViewPr snapToGrid="0">
      <p:cViewPr varScale="1">
        <p:scale>
          <a:sx n="83" d="100"/>
          <a:sy n="83" d="100"/>
        </p:scale>
        <p:origin x="71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E776D-E034-438D-B3FB-65AB60495964}" type="datetimeFigureOut">
              <a:rPr lang="tr-TR" smtClean="0"/>
              <a:t>10.10.2018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C6C79-AFD2-4B1D-9D19-3E0EDA16FCC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4482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D0BE6F0-B8BC-436A-854A-10EEFD7F44CB}" type="slidenum">
              <a:rPr lang="tr-TR" altLang="tr-TR" smtClean="0"/>
              <a:pPr>
                <a:spcBef>
                  <a:spcPct val="0"/>
                </a:spcBef>
              </a:pPr>
              <a:t>1</a:t>
            </a:fld>
            <a:endParaRPr lang="tr-TR" altLang="tr-TR" smtClean="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640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2292D2F-B2B0-40B8-9D73-8E5E136896E8}" type="slidenum">
              <a:rPr lang="tr-TR" altLang="tr-TR"/>
              <a:pPr eaLnBrk="1" hangingPunct="1"/>
              <a:t>8</a:t>
            </a:fld>
            <a:endParaRPr lang="tr-TR" altLang="tr-TR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60444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0287C-C190-4E41-B42F-0CD5EA9CB679}" type="datetimeFigureOut">
              <a:rPr lang="tr-TR" smtClean="0"/>
              <a:t>10.10.2018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4C0C-DAD7-4F84-8009-7544AB5DDD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98700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0287C-C190-4E41-B42F-0CD5EA9CB679}" type="datetimeFigureOut">
              <a:rPr lang="tr-TR" smtClean="0"/>
              <a:t>10.10.2018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4C0C-DAD7-4F84-8009-7544AB5DDD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0704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0287C-C190-4E41-B42F-0CD5EA9CB679}" type="datetimeFigureOut">
              <a:rPr lang="tr-TR" smtClean="0"/>
              <a:t>10.10.2018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4C0C-DAD7-4F84-8009-7544AB5DDD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39700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0287C-C190-4E41-B42F-0CD5EA9CB679}" type="datetimeFigureOut">
              <a:rPr lang="tr-TR" smtClean="0"/>
              <a:t>10.10.2018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4C0C-DAD7-4F84-8009-7544AB5DDD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64255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0287C-C190-4E41-B42F-0CD5EA9CB679}" type="datetimeFigureOut">
              <a:rPr lang="tr-TR" smtClean="0"/>
              <a:t>10.10.2018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4C0C-DAD7-4F84-8009-7544AB5DDD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48296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0287C-C190-4E41-B42F-0CD5EA9CB679}" type="datetimeFigureOut">
              <a:rPr lang="tr-TR" smtClean="0"/>
              <a:t>10.10.2018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4C0C-DAD7-4F84-8009-7544AB5DDD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91862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0287C-C190-4E41-B42F-0CD5EA9CB679}" type="datetimeFigureOut">
              <a:rPr lang="tr-TR" smtClean="0"/>
              <a:t>10.10.2018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4C0C-DAD7-4F84-8009-7544AB5DDD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5874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0287C-C190-4E41-B42F-0CD5EA9CB679}" type="datetimeFigureOut">
              <a:rPr lang="tr-TR" smtClean="0"/>
              <a:t>10.10.2018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4C0C-DAD7-4F84-8009-7544AB5DDD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0219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0287C-C190-4E41-B42F-0CD5EA9CB679}" type="datetimeFigureOut">
              <a:rPr lang="tr-TR" smtClean="0"/>
              <a:t>10.10.2018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4C0C-DAD7-4F84-8009-7544AB5DDD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8024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0287C-C190-4E41-B42F-0CD5EA9CB679}" type="datetimeFigureOut">
              <a:rPr lang="tr-TR" smtClean="0"/>
              <a:t>10.10.2018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4C0C-DAD7-4F84-8009-7544AB5DDD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436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0287C-C190-4E41-B42F-0CD5EA9CB679}" type="datetimeFigureOut">
              <a:rPr lang="tr-TR" smtClean="0"/>
              <a:t>10.10.2018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4C0C-DAD7-4F84-8009-7544AB5DDD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697504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0287C-C190-4E41-B42F-0CD5EA9CB679}" type="datetimeFigureOut">
              <a:rPr lang="tr-TR" smtClean="0"/>
              <a:t>10.10.2018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94C0C-DAD7-4F84-8009-7544AB5DDD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09277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23"/>
          <p:cNvSpPr txBox="1">
            <a:spLocks noChangeArrowheads="1"/>
          </p:cNvSpPr>
          <p:nvPr/>
        </p:nvSpPr>
        <p:spPr bwMode="auto">
          <a:xfrm>
            <a:off x="1386974" y="817897"/>
            <a:ext cx="87122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nl-NL" altLang="tr-TR" sz="2400" b="1" dirty="0" smtClean="0"/>
              <a:t>Kapının yanındaki </a:t>
            </a:r>
            <a:r>
              <a:rPr lang="nl-NL" altLang="tr-TR" sz="2400" b="1" dirty="0"/>
              <a:t>anahtara basıldığında, lamba yanmalıdır. 3 saniye sonra fan çalışmaya başlamalıdır. Anahtara basılıp lamba söndürüldükten sonra fan 5 saniye daha çalışmaya devam etmelidir.</a:t>
            </a:r>
            <a:endParaRPr lang="tr-TR" altLang="tr-TR" sz="2400" b="1" dirty="0"/>
          </a:p>
          <a:p>
            <a:pPr algn="just"/>
            <a:r>
              <a:rPr lang="tr-TR" altLang="tr-TR" sz="2400" b="1" dirty="0"/>
              <a:t>S1 anahtar, L1 lamba ve fan vardır.</a:t>
            </a: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649" y="3321050"/>
            <a:ext cx="451485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00745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9147379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1338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ChangeArrowheads="1"/>
          </p:cNvSpPr>
          <p:nvPr/>
        </p:nvSpPr>
        <p:spPr bwMode="auto">
          <a:xfrm>
            <a:off x="580441" y="828266"/>
            <a:ext cx="1089776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tr-TR" altLang="tr-TR" sz="2400" b="1" dirty="0">
                <a:cs typeface="Times New Roman" panose="02020603050405020304" pitchFamily="18" charset="0"/>
              </a:rPr>
              <a:t>Uygulama: </a:t>
            </a:r>
            <a:r>
              <a:rPr lang="tr-TR" altLang="tr-TR" sz="2400" dirty="0">
                <a:cs typeface="Times New Roman" panose="02020603050405020304" pitchFamily="18" charset="0"/>
              </a:rPr>
              <a:t>Bir hidrolik presin kumandası PLC ile gerçekleştirilecektir. Start butonuna basıldığında pres başlığı aşağı inecek, tamamen aşağı indikten 3 </a:t>
            </a:r>
            <a:r>
              <a:rPr lang="tr-TR" altLang="tr-TR" sz="2400" dirty="0" err="1">
                <a:cs typeface="Times New Roman" panose="02020603050405020304" pitchFamily="18" charset="0"/>
              </a:rPr>
              <a:t>sn</a:t>
            </a:r>
            <a:r>
              <a:rPr lang="tr-TR" altLang="tr-TR" sz="2400" dirty="0">
                <a:cs typeface="Times New Roman" panose="02020603050405020304" pitchFamily="18" charset="0"/>
              </a:rPr>
              <a:t> sonra yukarı çıkacaktır.</a:t>
            </a:r>
          </a:p>
          <a:p>
            <a:pPr algn="just" eaLnBrk="1" hangingPunct="1"/>
            <a:r>
              <a:rPr lang="tr-TR" altLang="tr-TR" sz="2400" dirty="0">
                <a:cs typeface="Times New Roman" panose="02020603050405020304" pitchFamily="18" charset="0"/>
              </a:rPr>
              <a:t>Pres başlığının hareketi için çift etkili hidrolik bir silindir, silindirin kumandası amacıyla da yay merkezli 5/3 bir valf kullanılacaktır.</a:t>
            </a:r>
          </a:p>
        </p:txBody>
      </p:sp>
      <p:graphicFrame>
        <p:nvGraphicFramePr>
          <p:cNvPr id="3" name="2 Tabl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008146"/>
              </p:ext>
            </p:extLst>
          </p:nvPr>
        </p:nvGraphicFramePr>
        <p:xfrm>
          <a:off x="580441" y="3471946"/>
          <a:ext cx="7958138" cy="2544766"/>
        </p:xfrm>
        <a:graphic>
          <a:graphicData uri="http://schemas.openxmlformats.org/drawingml/2006/table">
            <a:tbl>
              <a:tblPr/>
              <a:tblGrid>
                <a:gridCol w="1865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5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6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53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ATAMA LİSTESİ</a:t>
                      </a:r>
                      <a:endParaRPr kumimoji="0" lang="tr-T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L="16891" marR="16891" marT="0" marB="0" anchor="ctr" horzOverflow="overflow">
                    <a:lnL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EA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OPERAND</a:t>
                      </a: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L="16891" marR="16891" marT="0" marB="0" anchor="ctr" horzOverflow="overflow">
                    <a:lnL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SEMBOL</a:t>
                      </a: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L="16891" marR="16891" marT="0" marB="0" anchor="ctr" horzOverflow="overflow">
                    <a:lnL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AÇIKLAMA</a:t>
                      </a: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L="16891" marR="16891" marT="0" marB="0" anchor="ctr" horzOverflow="overflow">
                    <a:lnL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 0.0</a:t>
                      </a:r>
                    </a:p>
                  </a:txBody>
                  <a:tcPr marL="16891" marR="16891" marT="0" marB="0" horzOverflow="overflow">
                    <a:lnL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start</a:t>
                      </a:r>
                    </a:p>
                  </a:txBody>
                  <a:tcPr marL="16891" marR="16891" marT="0" marB="0" horzOverflow="overflow">
                    <a:lnL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Start butonu</a:t>
                      </a:r>
                    </a:p>
                  </a:txBody>
                  <a:tcPr marL="16891" marR="16891" marT="0" marB="0" horzOverflow="overflow">
                    <a:lnL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 0.1</a:t>
                      </a:r>
                    </a:p>
                  </a:txBody>
                  <a:tcPr marL="16891" marR="16891" marT="0" marB="0" horzOverflow="overflow">
                    <a:lnL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38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pres_</a:t>
                      </a:r>
                      <a:r>
                        <a:rPr kumimoji="0" lang="tr-TR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asagida</a:t>
                      </a:r>
                      <a:endParaRPr kumimoji="0" lang="tr-T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L="16891" marR="16891" marT="0" marB="0" horzOverflow="overflow">
                    <a:lnL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Pres başlığı aşağıda</a:t>
                      </a:r>
                    </a:p>
                  </a:txBody>
                  <a:tcPr marL="16891" marR="16891" marT="0" marB="0" horzOverflow="overflow">
                    <a:lnL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 0.2</a:t>
                      </a:r>
                    </a:p>
                  </a:txBody>
                  <a:tcPr marL="16891" marR="16891" marT="0" marB="0" horzOverflow="overflow">
                    <a:lnL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38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pres_</a:t>
                      </a:r>
                      <a:r>
                        <a:rPr kumimoji="0" lang="tr-TR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yukarida</a:t>
                      </a:r>
                      <a:endParaRPr kumimoji="0" lang="tr-T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L="16891" marR="16891" marT="0" marB="0" horzOverflow="overflow">
                    <a:lnL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Pres başlığı  yukarıda</a:t>
                      </a:r>
                    </a:p>
                  </a:txBody>
                  <a:tcPr marL="16891" marR="16891" marT="0" marB="0" horzOverflow="overflow">
                    <a:lnL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Q 0.0</a:t>
                      </a:r>
                    </a:p>
                  </a:txBody>
                  <a:tcPr marL="16891" marR="16891" marT="0" marB="0" horzOverflow="overflow">
                    <a:lnL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38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pres_</a:t>
                      </a:r>
                      <a:r>
                        <a:rPr kumimoji="0" lang="tr-TR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asagi</a:t>
                      </a:r>
                      <a:endParaRPr kumimoji="0" lang="tr-T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L="16891" marR="16891" marT="0" marB="0" horzOverflow="overflow">
                    <a:lnL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Pres başlığı  aşağıya</a:t>
                      </a:r>
                    </a:p>
                  </a:txBody>
                  <a:tcPr marL="16891" marR="16891" marT="0" marB="0" horzOverflow="overflow">
                    <a:lnL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Q 0.1</a:t>
                      </a:r>
                    </a:p>
                  </a:txBody>
                  <a:tcPr marL="16891" marR="16891" marT="0" marB="0" horzOverflow="overflow">
                    <a:lnL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pres_</a:t>
                      </a:r>
                      <a:r>
                        <a:rPr kumimoji="0" lang="tr-TR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yukari</a:t>
                      </a:r>
                      <a:endParaRPr kumimoji="0" lang="tr-T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L="16891" marR="16891" marT="0" marB="0" horzOverflow="overflow">
                    <a:lnL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Pres başlığı  yukarıya</a:t>
                      </a:r>
                    </a:p>
                  </a:txBody>
                  <a:tcPr marL="16891" marR="16891" marT="0" marB="0" horzOverflow="overflow">
                    <a:lnL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55" t="10980" r="15251" b="16728"/>
          <a:stretch>
            <a:fillRect/>
          </a:stretch>
        </p:blipFill>
        <p:spPr bwMode="auto">
          <a:xfrm>
            <a:off x="8779460" y="3544179"/>
            <a:ext cx="269875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3774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991544" y="476672"/>
            <a:ext cx="8229600" cy="612068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tr-TR" sz="2700" dirty="0"/>
              <a:t>Şekildeki    </a:t>
            </a:r>
            <a:r>
              <a:rPr lang="tr-TR" sz="2700" b="1" i="1" dirty="0">
                <a:solidFill>
                  <a:srgbClr val="FF0000"/>
                </a:solidFill>
              </a:rPr>
              <a:t>sistemde   başlat   butonuna basıldığında,   kutuların  taşındığı   konveyör hattı   (</a:t>
            </a:r>
            <a:r>
              <a:rPr lang="tr-TR" sz="2700" b="1" i="1" dirty="0" err="1">
                <a:solidFill>
                  <a:srgbClr val="FF0000"/>
                </a:solidFill>
              </a:rPr>
              <a:t>Mk</a:t>
            </a:r>
            <a:r>
              <a:rPr lang="tr-TR" sz="2700" b="1" i="1" dirty="0">
                <a:solidFill>
                  <a:srgbClr val="FF0000"/>
                </a:solidFill>
              </a:rPr>
              <a:t>)  hareket   etmektedir.</a:t>
            </a:r>
            <a:r>
              <a:rPr lang="tr-TR" sz="2700" dirty="0"/>
              <a:t>   Her  bir  elma  kutusu, elmaların taşıdığı konveyörün karşısına geldiğinde </a:t>
            </a:r>
            <a:r>
              <a:rPr lang="tr-TR" sz="2700" b="1" i="1" dirty="0">
                <a:solidFill>
                  <a:srgbClr val="FF0000"/>
                </a:solidFill>
              </a:rPr>
              <a:t>(</a:t>
            </a:r>
            <a:r>
              <a:rPr lang="tr-TR" sz="2700" b="1" i="1" dirty="0" err="1">
                <a:solidFill>
                  <a:srgbClr val="FF0000"/>
                </a:solidFill>
              </a:rPr>
              <a:t>Skyaklaşım</a:t>
            </a:r>
            <a:r>
              <a:rPr lang="tr-TR" sz="2700" b="1" i="1" dirty="0">
                <a:solidFill>
                  <a:srgbClr val="FF0000"/>
                </a:solidFill>
              </a:rPr>
              <a:t> sensörünün önüne) kutuların taşındığı konveyör hattı durmakta</a:t>
            </a:r>
            <a:r>
              <a:rPr lang="tr-TR" sz="2700" dirty="0"/>
              <a:t>, </a:t>
            </a:r>
            <a:r>
              <a:rPr lang="tr-TR" sz="2700" b="1" i="1" dirty="0">
                <a:solidFill>
                  <a:srgbClr val="FF0000"/>
                </a:solidFill>
              </a:rPr>
              <a:t>Me (elmaların bulunduğu konveyör hattı) hareket etmeye başlamaktadır. </a:t>
            </a:r>
            <a:r>
              <a:rPr lang="tr-TR" sz="2700" dirty="0"/>
              <a:t>Elma konveyöründen kutulara dökülen  </a:t>
            </a:r>
            <a:r>
              <a:rPr lang="tr-TR" sz="2700" b="1" dirty="0">
                <a:solidFill>
                  <a:srgbClr val="FF0000"/>
                </a:solidFill>
              </a:rPr>
              <a:t>elmaları  Se  yaklaşım  sensörü </a:t>
            </a:r>
            <a:r>
              <a:rPr lang="tr-TR" sz="2700" dirty="0"/>
              <a:t>saymaktadır.  Kutunun  içerisine </a:t>
            </a:r>
            <a:r>
              <a:rPr lang="tr-TR" sz="2700" b="1" dirty="0">
                <a:solidFill>
                  <a:srgbClr val="FF0000"/>
                </a:solidFill>
              </a:rPr>
              <a:t>10 adet elma dökülüp </a:t>
            </a:r>
            <a:r>
              <a:rPr lang="tr-TR" sz="2700" dirty="0"/>
              <a:t>sayıldıktan sonra,  </a:t>
            </a:r>
            <a:r>
              <a:rPr lang="tr-TR" sz="2700" b="1" i="1" dirty="0">
                <a:solidFill>
                  <a:srgbClr val="FF0000"/>
                </a:solidFill>
              </a:rPr>
              <a:t>elma  konveyörü durmakta, 2 </a:t>
            </a:r>
            <a:r>
              <a:rPr lang="tr-TR" sz="2700" b="1" i="1" dirty="0" err="1">
                <a:solidFill>
                  <a:srgbClr val="FF0000"/>
                </a:solidFill>
              </a:rPr>
              <a:t>sn</a:t>
            </a:r>
            <a:r>
              <a:rPr lang="tr-TR" sz="2700" b="1" i="1" dirty="0">
                <a:solidFill>
                  <a:srgbClr val="FF0000"/>
                </a:solidFill>
              </a:rPr>
              <a:t> sonra kutu konveyörü hareket etmeye başlamaktadır. </a:t>
            </a:r>
            <a:r>
              <a:rPr lang="tr-TR" sz="2700" dirty="0"/>
              <a:t>İkinci ve daha sonraki kutular ile </a:t>
            </a:r>
            <a:r>
              <a:rPr lang="tr-TR" sz="2700" b="1" i="1" dirty="0">
                <a:solidFill>
                  <a:srgbClr val="FF0000"/>
                </a:solidFill>
              </a:rPr>
              <a:t>aynı işlem,  durdur butonuna basılana  kadar devam  etmektedir</a:t>
            </a:r>
            <a:r>
              <a:rPr lang="tr-TR" sz="2700" dirty="0"/>
              <a:t>. Sistemin çalışmasını sağlayacak programı tasarlayın.</a:t>
            </a:r>
          </a:p>
          <a:p>
            <a:pPr marL="0" indent="0" algn="just">
              <a:buNone/>
            </a:pPr>
            <a:endParaRPr lang="tr-TR" sz="2700" dirty="0"/>
          </a:p>
        </p:txBody>
      </p:sp>
    </p:spTree>
    <p:extLst>
      <p:ext uri="{BB962C8B-B14F-4D97-AF65-F5344CB8AC3E}">
        <p14:creationId xmlns:p14="http://schemas.microsoft.com/office/powerpoint/2010/main" val="2711588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553" y="188640"/>
            <a:ext cx="9064805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3642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199983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tr-TR" dirty="0"/>
              <a:t>Şekilde 100 araçlık garaj sistemi görünmektedir. Start</a:t>
            </a:r>
          </a:p>
          <a:p>
            <a:pPr marL="0" indent="0" algn="just">
              <a:buNone/>
            </a:pPr>
            <a:r>
              <a:rPr lang="tr-TR" dirty="0"/>
              <a:t>butonuna basıldığında A ve B kapıları açılacaktır. A kapısından</a:t>
            </a:r>
          </a:p>
          <a:p>
            <a:pPr marL="0" indent="0" algn="just">
              <a:buNone/>
            </a:pPr>
            <a:r>
              <a:rPr lang="tr-TR" dirty="0"/>
              <a:t>giriş yapan her araba S1 </a:t>
            </a:r>
            <a:r>
              <a:rPr lang="tr-TR" dirty="0" err="1"/>
              <a:t>sensörü</a:t>
            </a:r>
            <a:r>
              <a:rPr lang="tr-TR" dirty="0"/>
              <a:t> tarafından , B kapısından çıkış yapan</a:t>
            </a:r>
          </a:p>
          <a:p>
            <a:pPr marL="0" indent="0" algn="just">
              <a:buNone/>
            </a:pPr>
            <a:r>
              <a:rPr lang="tr-TR" dirty="0"/>
              <a:t>her araba da S2 </a:t>
            </a:r>
            <a:r>
              <a:rPr lang="tr-TR" dirty="0" err="1"/>
              <a:t>sensörü</a:t>
            </a:r>
            <a:r>
              <a:rPr lang="tr-TR" dirty="0"/>
              <a:t> tarafından algılanmaktadır. Garaj içerisinde</a:t>
            </a:r>
          </a:p>
          <a:p>
            <a:pPr marL="0" indent="0" algn="just">
              <a:buNone/>
            </a:pPr>
            <a:r>
              <a:rPr lang="tr-TR" dirty="0"/>
              <a:t>toplam 100 araç olduğunda “YER YOK” sinyal lambası yanacak ve A</a:t>
            </a:r>
          </a:p>
          <a:p>
            <a:pPr marL="0" indent="0" algn="just">
              <a:buNone/>
            </a:pPr>
            <a:r>
              <a:rPr lang="tr-TR" dirty="0"/>
              <a:t>kapısı kapanacak. Sistemin çalışmasını sağlayacak programı tasarlayın.</a:t>
            </a:r>
          </a:p>
        </p:txBody>
      </p:sp>
    </p:spTree>
    <p:extLst>
      <p:ext uri="{BB962C8B-B14F-4D97-AF65-F5344CB8AC3E}">
        <p14:creationId xmlns:p14="http://schemas.microsoft.com/office/powerpoint/2010/main" val="3505544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0" y="548680"/>
            <a:ext cx="8873688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991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8" name="Text Box 4"/>
          <p:cNvSpPr txBox="1">
            <a:spLocks noChangeArrowheads="1"/>
          </p:cNvSpPr>
          <p:nvPr/>
        </p:nvSpPr>
        <p:spPr bwMode="auto">
          <a:xfrm>
            <a:off x="596565" y="540838"/>
            <a:ext cx="10777287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tr-TR" altLang="tr-TR" sz="2000" b="1" dirty="0">
                <a:solidFill>
                  <a:srgbClr val="FA3232"/>
                </a:solidFill>
              </a:rPr>
              <a:t>Örnek:</a:t>
            </a:r>
            <a:r>
              <a:rPr lang="tr-TR" altLang="tr-TR" sz="2000" b="1" dirty="0"/>
              <a:t> Bir montaj bandı, start butonuna basılması ile dönmeye başlayacak ve bant üzerindeki parçanın işçi önüne geldiğini bildiren sinyal alındığında bant duracaktır. </a:t>
            </a:r>
          </a:p>
          <a:p>
            <a:pPr algn="just" eaLnBrk="1" hangingPunct="1">
              <a:spcBef>
                <a:spcPct val="50000"/>
              </a:spcBef>
            </a:pPr>
            <a:r>
              <a:rPr lang="tr-TR" altLang="tr-TR" sz="2000" b="1" dirty="0"/>
              <a:t>Parçayı kaldırmadan işçi işlemini yapacak, sonra start butonuna yeniden basarak bandı yeniden döndürecektir. </a:t>
            </a:r>
          </a:p>
          <a:p>
            <a:pPr algn="just" eaLnBrk="1" hangingPunct="1">
              <a:spcBef>
                <a:spcPct val="50000"/>
              </a:spcBef>
            </a:pPr>
            <a:r>
              <a:rPr lang="tr-TR" altLang="tr-TR" sz="2000" b="1" dirty="0"/>
              <a:t>Yeni parça geldiğinde bant duracak, start butonu ile yeniden çalışacaktır. </a:t>
            </a:r>
          </a:p>
        </p:txBody>
      </p:sp>
      <p:sp>
        <p:nvSpPr>
          <p:cNvPr id="8197" name="Rectangle 6"/>
          <p:cNvSpPr>
            <a:spLocks noChangeArrowheads="1"/>
          </p:cNvSpPr>
          <p:nvPr/>
        </p:nvSpPr>
        <p:spPr bwMode="auto">
          <a:xfrm>
            <a:off x="1524001" y="26871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tr-TR" altLang="tr-TR"/>
          </a:p>
        </p:txBody>
      </p:sp>
      <p:graphicFrame>
        <p:nvGraphicFramePr>
          <p:cNvPr id="1955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500473"/>
              </p:ext>
            </p:extLst>
          </p:nvPr>
        </p:nvGraphicFramePr>
        <p:xfrm>
          <a:off x="2318001" y="3056454"/>
          <a:ext cx="6876195" cy="3216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Drawing" r:id="rId4" imgW="9039240" imgH="5391000" progId="AutoCAD.Drawing.15">
                  <p:embed/>
                </p:oleObj>
              </mc:Choice>
              <mc:Fallback>
                <p:oleObj name="Drawing" r:id="rId4" imgW="9039240" imgH="5391000" progId="AutoCAD.Drawing.15">
                  <p:embed/>
                  <p:pic>
                    <p:nvPicPr>
                      <p:cNvPr id="1955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1301" t="24609" r="36456" b="42444"/>
                      <a:stretch>
                        <a:fillRect/>
                      </a:stretch>
                    </p:blipFill>
                    <p:spPr bwMode="auto">
                      <a:xfrm>
                        <a:off x="2318001" y="3056454"/>
                        <a:ext cx="6876195" cy="321600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E2FBA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084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5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5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95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55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55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955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5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5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95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9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339</Words>
  <Application>Microsoft Office PowerPoint</Application>
  <PresentationFormat>Geniş ekran</PresentationFormat>
  <Paragraphs>35</Paragraphs>
  <Slides>8</Slides>
  <Notes>2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Eklenmiş OLE Hizmet Programları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Teması</vt:lpstr>
      <vt:lpstr>Drawing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UYGULAMALAR</dc:title>
  <dc:creator/>
  <cp:lastModifiedBy/>
  <cp:revision>5</cp:revision>
  <dcterms:created xsi:type="dcterms:W3CDTF">2018-10-09T14:39:23Z</dcterms:created>
  <dcterms:modified xsi:type="dcterms:W3CDTF">2018-10-10T05:41:27Z</dcterms:modified>
  <dc:description/>
</cp:coreProperties>
</file>